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1005840"/>
            <a:ext cx="3291840" cy="3291840"/>
          </a:xfrm>
          <a:prstGeom prst="ellipse">
            <a:avLst/>
          </a:prstGeom>
          <a:noFill/>
          <a:ln w="25400">
            <a:solidFill>
              <a:srgbClr val="2339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1554480"/>
            <a:ext cx="2194560" cy="2194560"/>
          </a:xfrm>
          <a:prstGeom prst="ellipse">
            <a:avLst/>
          </a:prstGeom>
          <a:noFill/>
          <a:ln w="2540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2103120"/>
            <a:ext cx="1097280" cy="1097280"/>
          </a:xfrm>
          <a:prstGeom prst="ellipse">
            <a:avLst/>
          </a:prstGeom>
          <a:noFill/>
          <a:ln w="31750">
            <a:solidFill>
              <a:srgbClr val="00C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38360" y="2514600"/>
            <a:ext cx="274320" cy="274320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23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00C9B1"/>
                </a:solidFill>
                <a:latin typeface="Trebuchet MS"/>
              </a:rPr>
              <a:t>PROJETO FINAL · 2026.1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74980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7200" b="1" i="0">
                <a:solidFill>
                  <a:srgbClr val="F2F6FC"/>
                </a:solidFill>
                <a:latin typeface="Trebuchet MS"/>
              </a:rPr>
              <a:t>FaceID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0C9B1"/>
                </a:solidFill>
                <a:latin typeface="Trebuchet MS"/>
              </a:rPr>
              <a:t>Sistema de Reconhecimento Facial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0C9B1"/>
                </a:solidFill>
                <a:latin typeface="Trebuchet MS"/>
              </a:rPr>
              <a:t>com Prova de Vida (Anti-Spoofing)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9BBD0"/>
                </a:solidFill>
                <a:latin typeface="Calibri"/>
              </a:rPr>
              <a:t>Detecção · Embeddings · Reconhecimento · Liveness ·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983480"/>
            <a:ext cx="6949440" cy="96012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138928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C9B1"/>
                </a:solidFill>
                <a:latin typeface="Trebuchet MS"/>
              </a:rPr>
              <a:t>EQUIPE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6FC"/>
                </a:solidFill>
                <a:latin typeface="Trebuchet MS"/>
              </a:rPr>
              <a:t>Hector Mathias    ·    Lara    ·    Anderson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Entrega Intermediária — 24/05/2026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9B1"/>
                </a:solidFill>
                <a:latin typeface="Trebuchet MS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F6FC"/>
                </a:solidFill>
                <a:latin typeface="Trebuchet MS"/>
              </a:rPr>
              <a:t>Descrição do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A9BBD0"/>
                </a:solidFill>
                <a:latin typeface="Calibri"/>
              </a:rPr>
              <a:t>Construir, do zero e em poucos dias, um sistema de autenticação biométrica por rosto — um “Face ID” — que detecta o rosto, reconhece quem é a pessoa e confirma que é um usuário vivo (não uma foto), com uma interface de bloqueio/liberação.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63240"/>
            <a:ext cx="3502152" cy="283464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264408"/>
            <a:ext cx="304495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0C9B1"/>
                </a:solidFill>
                <a:latin typeface="Trebuchet MS"/>
              </a:rPr>
              <a:t>🎯  Objetivo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Autenticar uma pessoa cadastrada em tempo real pela webcam.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Liberar acesso só para o rosto correto E vivo.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Simular um fluxo real de desbloqueio.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3063240"/>
            <a:ext cx="3502152" cy="2834640"/>
          </a:xfrm>
          <a:prstGeom prst="roundRect">
            <a:avLst>
              <a:gd name="adj" fmla="val 8000"/>
            </a:avLst>
          </a:prstGeom>
          <a:solidFill>
            <a:srgbClr val="23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3264408"/>
            <a:ext cx="304495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0C9B1"/>
                </a:solidFill>
                <a:latin typeface="Trebuchet MS"/>
              </a:rPr>
              <a:t>🧩  Escopo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Pipeline clássico de visão: detecção → embeddings → matching.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Camada de segurança: prova de vida (anti-spoofing).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Protótipo funcional ponta a ponta em CPU.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3063240"/>
            <a:ext cx="3502152" cy="283464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3264408"/>
            <a:ext cx="304495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0C9B1"/>
                </a:solidFill>
                <a:latin typeface="Trebuchet MS"/>
              </a:rPr>
              <a:t>⭐  Por que importa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Biometria facial está em celulares, bancos e controle de acesso.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Mostra domínio de modelos pré-treinados e engenharia de pipeline.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Base para virar ferramenta real da Insper 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Insper AI · FaceID 2026.1 · Entrega Intermediária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9B1"/>
                </a:solidFill>
                <a:latin typeface="Trebuchet MS"/>
              </a:rPr>
              <a:t>COMO O PROBLEMA É RESOLVIDO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F6FC"/>
                </a:solidFill>
                <a:latin typeface="Trebuchet MS"/>
              </a:rPr>
              <a:t>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3152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6FC"/>
                </a:solidFill>
                <a:latin typeface="Trebuchet MS"/>
              </a:rPr>
              <a:t>Apple Face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901952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9BBD0"/>
                </a:solidFill>
                <a:latin typeface="Calibri"/>
              </a:rPr>
              <a:t>Hardware + profundidade (TrueDepth/IR). Altíssima segurança, mas depende de sensor 3D dedicado.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24328"/>
            <a:ext cx="10908792" cy="73152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6FC"/>
                </a:solidFill>
                <a:latin typeface="Trebuchet MS"/>
              </a:rPr>
              <a:t>FaceNet (Google)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43200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9BBD0"/>
                </a:solidFill>
                <a:latin typeface="Calibri"/>
              </a:rPr>
              <a:t>Embeddings de 128-d treinados com triplet loss. Marco do reconhecimento moderno.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65576"/>
            <a:ext cx="10908792" cy="731520"/>
          </a:xfrm>
          <a:prstGeom prst="roundRect">
            <a:avLst>
              <a:gd name="adj" fmla="val 8000"/>
            </a:avLst>
          </a:prstGeom>
          <a:solidFill>
            <a:srgbClr val="23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84448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C9B1"/>
                </a:solidFill>
                <a:latin typeface="Trebuchet MS"/>
              </a:rPr>
              <a:t>ArcFace / InsightFace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584448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9BBD0"/>
                </a:solidFill>
                <a:latin typeface="Calibri"/>
              </a:rPr>
              <a:t>Embeddings de 512-d com margem angular aditiva. Estado da arte em precisão. ← nossa 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73152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25696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6FC"/>
                </a:solidFill>
                <a:latin typeface="Trebuchet MS"/>
              </a:rPr>
              <a:t>dlib / face_recognition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425696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9BBD0"/>
                </a:solidFill>
                <a:latin typeface="Calibri"/>
              </a:rPr>
              <a:t>HOG + ResNet, 128-d. API simples, mas instalação pesada (compilação C++).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48072"/>
            <a:ext cx="10908792" cy="73152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66944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6FC"/>
                </a:solidFill>
                <a:latin typeface="Trebuchet MS"/>
              </a:rPr>
              <a:t>Anti-spoofing (liveness)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266944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9BBD0"/>
                </a:solidFill>
                <a:latin typeface="Calibri"/>
              </a:rPr>
              <a:t>Piscada, movimento, profundidade ou CNN de textura para barrar fotos/vídeos.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Insper AI · FaceID 2026.1 · Entrega Intermediária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9B1"/>
                </a:solidFill>
                <a:latin typeface="Trebuchet MS"/>
              </a:rPr>
              <a:t>DADOS 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F6FC"/>
                </a:solidFill>
                <a:latin typeface="Trebuchet MS"/>
              </a:rPr>
              <a:t>Dados Utilizados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84248"/>
            <a:ext cx="4892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0C9B1"/>
                </a:solidFill>
                <a:latin typeface="Trebuchet MS"/>
              </a:rPr>
              <a:t>📸  Coleta própria (webcam)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Dataset montado por nós: data/dataset/&lt;pessoa&gt;/.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5 a 15 fotos por pessoa em ângulos e expressões variados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(augmentation natural de pose/iluminação).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Recorte do rosto com margem para preservar contexto.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8308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23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84248"/>
            <a:ext cx="4892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0C9B1"/>
                </a:solidFill>
                <a:latin typeface="Trebuchet MS"/>
              </a:rPr>
              <a:t>🧹  Pré-processamento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Detecção do rosto: MediaPipe BlazeFace.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Alinhamento facial automático (InsightFace).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Fallback de borda para recortes “justos”.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Normalização L2 dos vetores para o matching.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69080"/>
            <a:ext cx="10908792" cy="1874519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10424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C9B1"/>
                </a:solidFill>
                <a:latin typeface="Trebuchet MS"/>
              </a:rPr>
              <a:t>🔑  Feature principal: o embedding ArcFace (512-d)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9BBD0"/>
                </a:solidFill>
                <a:latin typeface="Calibri"/>
              </a:rPr>
              <a:t>Cada rosto é convertido em um vetor de 512 números. Rostos parecidos geram vetores parecidos — é isso que permite comparar identidades. Não treinamos um modelo do zero: usamos um modelo pré-treinado em milhões de rostos, e nossos dados servem para construir a base de referência (data/embeddings.pkl).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Insper AI · FaceID 2026.1 · Entrega Intermediária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9B1"/>
                </a:solidFill>
                <a:latin typeface="Trebuchet MS"/>
              </a:rPr>
              <a:t>MODELO E ARQUITETURA ESCOLHIDA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F6FC"/>
                </a:solidFill>
                <a:latin typeface="Trebuchet MS"/>
              </a:rPr>
              <a:t>Arquitetura do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5187" y="2011680"/>
            <a:ext cx="1892807" cy="169164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5559" y="2176272"/>
            <a:ext cx="512064" cy="512064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5559" y="217627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E1B2E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6627" y="2788920"/>
            <a:ext cx="1709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6FC"/>
                </a:solidFill>
                <a:latin typeface="Trebuchet MS"/>
              </a:rPr>
              <a:t>Captura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6627" y="3127248"/>
            <a:ext cx="1709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BD0"/>
                </a:solidFill>
                <a:latin typeface="Calibri"/>
              </a:rPr>
              <a:t>MediaPipe</a:t>
            </a:r>
            <a:br/>
            <a:r>
              <a:rPr sz="1100" b="0" i="0">
                <a:solidFill>
                  <a:srgbClr val="A9BBD0"/>
                </a:solidFill>
                <a:latin typeface="Calibri"/>
              </a:rPr>
              <a:t>FaceDetector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26283" y="2747772"/>
            <a:ext cx="237744" cy="219456"/>
          </a:xfrm>
          <a:prstGeom prst="rightArrow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82315" y="2011680"/>
            <a:ext cx="1892807" cy="1691640"/>
          </a:xfrm>
          <a:prstGeom prst="roundRect">
            <a:avLst>
              <a:gd name="adj" fmla="val 8000"/>
            </a:avLst>
          </a:prstGeom>
          <a:solidFill>
            <a:srgbClr val="23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72687" y="2176272"/>
            <a:ext cx="512064" cy="512064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2687" y="217627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E1B2E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3755" y="2788920"/>
            <a:ext cx="1709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6FC"/>
                </a:solidFill>
                <a:latin typeface="Trebuchet MS"/>
              </a:rPr>
              <a:t>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3755" y="3127248"/>
            <a:ext cx="1709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BD0"/>
                </a:solidFill>
                <a:latin typeface="Calibri"/>
              </a:rPr>
              <a:t>InsightFace</a:t>
            </a:r>
            <a:br/>
            <a:r>
              <a:rPr sz="1100" b="0" i="0">
                <a:solidFill>
                  <a:srgbClr val="A9BBD0"/>
                </a:solidFill>
                <a:latin typeface="Calibri"/>
              </a:rPr>
              <a:t>ArcFace 512-d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93411" y="2747772"/>
            <a:ext cx="237744" cy="219456"/>
          </a:xfrm>
          <a:prstGeom prst="rightArrow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49443" y="2011680"/>
            <a:ext cx="1892807" cy="169164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39815" y="2176272"/>
            <a:ext cx="512064" cy="512064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9815" y="217627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E1B2E"/>
                </a:solidFill>
                <a:latin typeface="Trebuchet M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0883" y="2788920"/>
            <a:ext cx="1709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6FC"/>
                </a:solidFill>
                <a:latin typeface="Trebuchet MS"/>
              </a:rPr>
              <a:t>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0883" y="3127248"/>
            <a:ext cx="1709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BD0"/>
                </a:solidFill>
                <a:latin typeface="Calibri"/>
              </a:rPr>
              <a:t>Similaridade</a:t>
            </a:r>
            <a:br/>
            <a:r>
              <a:rPr sz="1100" b="0" i="0">
                <a:solidFill>
                  <a:srgbClr val="A9BBD0"/>
                </a:solidFill>
                <a:latin typeface="Calibri"/>
              </a:rPr>
              <a:t>de cosseno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60539" y="2747772"/>
            <a:ext cx="237744" cy="219456"/>
          </a:xfrm>
          <a:prstGeom prst="rightArrow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6571" y="2011680"/>
            <a:ext cx="1892807" cy="1691640"/>
          </a:xfrm>
          <a:prstGeom prst="roundRect">
            <a:avLst>
              <a:gd name="adj" fmla="val 8000"/>
            </a:avLst>
          </a:prstGeom>
          <a:solidFill>
            <a:srgbClr val="23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6943" y="2176272"/>
            <a:ext cx="512064" cy="512064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6943" y="217627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E1B2E"/>
                </a:solidFill>
                <a:latin typeface="Trebuchet M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8011" y="2788920"/>
            <a:ext cx="1709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6FC"/>
                </a:solidFill>
                <a:latin typeface="Trebuchet MS"/>
              </a:rPr>
              <a:t>Prova de vida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8011" y="3127248"/>
            <a:ext cx="1709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BD0"/>
                </a:solidFill>
                <a:latin typeface="Calibri"/>
              </a:rPr>
              <a:t>FaceLandmarker</a:t>
            </a:r>
            <a:br/>
            <a:r>
              <a:rPr sz="1100" b="0" i="0">
                <a:solidFill>
                  <a:srgbClr val="A9BBD0"/>
                </a:solidFill>
                <a:latin typeface="Calibri"/>
              </a:rPr>
              <a:t>EAR / piscada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227667" y="2747772"/>
            <a:ext cx="237744" cy="219456"/>
          </a:xfrm>
          <a:prstGeom prst="rightArrow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83699" y="2011680"/>
            <a:ext cx="1892807" cy="169164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4071" y="2176272"/>
            <a:ext cx="512064" cy="512064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4071" y="217627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E1B2E"/>
                </a:solidFill>
                <a:latin typeface="Trebuchet M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5139" y="2788920"/>
            <a:ext cx="1709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6FC"/>
                </a:solidFill>
                <a:latin typeface="Trebuchet MS"/>
              </a:rPr>
              <a:t>Interface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5139" y="3127248"/>
            <a:ext cx="17099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BD0"/>
                </a:solidFill>
                <a:latin typeface="Calibri"/>
              </a:rPr>
              <a:t>OpenCV</a:t>
            </a:r>
            <a:br/>
            <a:r>
              <a:rPr sz="1100" b="0" i="0">
                <a:solidFill>
                  <a:srgbClr val="A9BBD0"/>
                </a:solidFill>
                <a:latin typeface="Calibri"/>
              </a:rPr>
              <a:t>bloqueio/acesso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16052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361688"/>
            <a:ext cx="4892040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0C9B1"/>
                </a:solidFill>
                <a:latin typeface="Trebuchet MS"/>
              </a:rPr>
              <a:t>Por que ArcFace e não dlib?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Precisão estado-da-arte (512-d &gt; 128-d).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Modelo pré-treinado: sem custo de treino.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Instala via wheels + onnxruntime (sem compilar dlib).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Faz detecção e alinhamento de forma integrada.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16052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23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361688"/>
            <a:ext cx="4892040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0C9B1"/>
                </a:solidFill>
                <a:latin typeface="Trebuchet MS"/>
              </a:rPr>
              <a:t>Por que cosseno e não euclidiana?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Embeddings já são normalizados (norma 1).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Cosseno vira um produto escalar — rápido e estável.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Limiar interpretável (0–1); usamos 0.40.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Equivalente à distância citada na rubrica (dlib ~0.6).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Insper AI · FaceID 2026.1 · Entrega Intermediária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9B1"/>
                </a:solidFill>
                <a:latin typeface="Trebuchet MS"/>
              </a:rPr>
              <a:t>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F6FC"/>
                </a:solidFill>
                <a:latin typeface="Trebuchet MS"/>
              </a:rPr>
              <a:t>Prova de Vida (Anti-Spoofing)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A9BBD0"/>
                </a:solidFill>
                <a:latin typeface="Calibri"/>
              </a:rPr>
              <a:t>Um Face ID de verdade não pode ser enganado por uma foto na tela do celular. Exigimos uma piscada para provar que há uma pessoa viva — uma foto estática nunca pisca.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5349240" cy="182880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44368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0C9B1"/>
                </a:solidFill>
                <a:latin typeface="Trebuchet MS"/>
              </a:rPr>
              <a:t>👁️  Como detectamos a piscada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Marcos faciais do MediaPipe FaceLandmarker (478 pontos).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EAR (Eye Aspect Ratio) = altura / largura do olho.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Olho fecha → EAR despenca; reabre → conta 1 piscada.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743200"/>
            <a:ext cx="5349240" cy="1828800"/>
          </a:xfrm>
          <a:prstGeom prst="roundRect">
            <a:avLst>
              <a:gd name="adj" fmla="val 8000"/>
            </a:avLst>
          </a:prstGeom>
          <a:solidFill>
            <a:srgbClr val="23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971800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0C9B1"/>
                </a:solidFill>
                <a:latin typeface="Trebuchet MS"/>
              </a:rPr>
              <a:t>Fórmula do EAR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2F6FC"/>
                </a:solidFill>
                <a:latin typeface="Consolas"/>
              </a:rPr>
              <a:t>EAR = (‖p2−p6‖ + ‖p3−p5‖) / (2·‖p1−p4‖)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9BBD0"/>
                </a:solidFill>
                <a:latin typeface="Calibri"/>
              </a:rPr>
              <a:t>Limiar: 0.21 (abaixo = olho fechado).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C9B1"/>
                </a:solidFill>
                <a:latin typeface="Trebuchet MS"/>
              </a:rPr>
              <a:t>FLUXO DE AUTENTICAÇÃO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2F6FC"/>
                </a:solidFill>
                <a:latin typeface="Trebuchet MS"/>
              </a:rPr>
              <a:t>🔒  BLOQUEADO</a:t>
            </a:r>
            <a:br/>
            <a:r>
              <a:rPr sz="1200" b="1">
                <a:solidFill>
                  <a:srgbClr val="F2F6FC"/>
                </a:solidFill>
                <a:latin typeface="Trebuchet MS"/>
              </a:rPr>
              <a:t>rosto não confirmado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77639" y="5413248"/>
            <a:ext cx="502920" cy="237744"/>
          </a:xfrm>
          <a:prstGeom prst="rightArrow">
            <a:avLst/>
          </a:prstGeom>
          <a:solidFill>
            <a:srgbClr val="A9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521208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0E1B2E"/>
                </a:solidFill>
                <a:latin typeface="Trebuchet MS"/>
              </a:rPr>
              <a:t>👁️  PISQUE</a:t>
            </a:r>
            <a:br/>
            <a:r>
              <a:rPr sz="1200" b="1">
                <a:solidFill>
                  <a:srgbClr val="0E1B2E"/>
                </a:solidFill>
                <a:latin typeface="Trebuchet MS"/>
              </a:rPr>
              <a:t>prova de vida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55279" y="5413248"/>
            <a:ext cx="502920" cy="237744"/>
          </a:xfrm>
          <a:prstGeom prst="rightArrow">
            <a:avLst/>
          </a:prstGeom>
          <a:solidFill>
            <a:srgbClr val="A9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0" y="521208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30C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0E1B2E"/>
                </a:solidFill>
                <a:latin typeface="Trebuchet MS"/>
              </a:rPr>
              <a:t>✅  ACESSO LIBERADO</a:t>
            </a:r>
            <a:br/>
            <a:r>
              <a:rPr sz="1200" b="1">
                <a:solidFill>
                  <a:srgbClr val="0E1B2E"/>
                </a:solidFill>
                <a:latin typeface="Trebuchet MS"/>
              </a:rPr>
              <a:t>bem-vindo!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Insper AI · FaceID 2026.1 · Entrega Intermediária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9B1"/>
                </a:solidFill>
                <a:latin typeface="Trebuchet MS"/>
              </a:rPr>
              <a:t>O QUE ENFRENTAMOS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F6FC"/>
                </a:solidFill>
                <a:latin typeface="Trebuchet MS"/>
              </a:rPr>
              <a:t>Desafios Encontrados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892040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6FC"/>
                </a:solidFill>
                <a:latin typeface="Trebuchet MS"/>
              </a:rPr>
              <a:t>🐍  Python 3.14 vs bibliotecas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Desafio: onnxruntime/InsightFace sem wheels para 3.14.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C9B1"/>
                </a:solidFill>
                <a:latin typeface="Calibri"/>
              </a:rPr>
              <a:t>Solução: Resolvido migrando o ambiente para Python 3.11.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8308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4892040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6FC"/>
                </a:solidFill>
                <a:latin typeface="Trebuchet MS"/>
              </a:rPr>
              <a:t>🪟  InsightFace no Windows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Desafio: Instalação podia exigir compilador C++.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C9B1"/>
                </a:solidFill>
                <a:latin typeface="Calibri"/>
              </a:rPr>
              <a:t>Solução: Documentado o passo a passo + uso de wheels.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4892040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6FC"/>
                </a:solidFill>
                <a:latin typeface="Trebuchet MS"/>
              </a:rPr>
              <a:t>✂️  Detecção em recortes justos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Desafio: O detector falhava em rostos sem margem.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C9B1"/>
                </a:solidFill>
                <a:latin typeface="Calibri"/>
              </a:rPr>
              <a:t>Solução: Fallback que adiciona borda/contexto à imagem.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0332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886200"/>
            <a:ext cx="4892040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6FC"/>
                </a:solidFill>
                <a:latin typeface="Trebuchet MS"/>
              </a:rPr>
              <a:t>⚡  Performance (0.7 FPS)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Desafio: Rodar o modelo pesado em todo quadro travava o vídeo.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C9B1"/>
                </a:solidFill>
                <a:latin typeface="Calibri"/>
              </a:rPr>
              <a:t>Solução: Reconhecimento em thread → saltou para ~58 FPS.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Insper AI · FaceID 2026.1 · Entrega Intermediária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9B1"/>
                </a:solidFill>
                <a:latin typeface="Trebuchet MS"/>
              </a:rPr>
              <a:t>O QUE VAMOS MEDIR (E O QUE JÁ TEMOS)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F6FC"/>
                </a:solidFill>
                <a:latin typeface="Trebuchet MS"/>
              </a:rPr>
              <a:t>Métricas e Resultados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447" y="17830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23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887" y="1938528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00C9B1"/>
                </a:solidFill>
                <a:latin typeface="Trebuchet MS"/>
              </a:rPr>
              <a:t>0.92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887" y="2788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similaridade de</a:t>
            </a:r>
            <a:br/>
            <a:r>
              <a:rPr sz="1200" b="0" i="0">
                <a:solidFill>
                  <a:srgbClr val="A9BBD0"/>
                </a:solidFill>
                <a:latin typeface="Calibri"/>
              </a:rPr>
              <a:t>cosseno (match)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8367" y="17830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23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1938528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00C9B1"/>
                </a:solidFill>
                <a:latin typeface="Trebuchet MS"/>
              </a:rPr>
              <a:t>~58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9807" y="2788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FPS em tempo</a:t>
            </a:r>
            <a:br/>
            <a:r>
              <a:rPr sz="1200" b="0" i="0">
                <a:solidFill>
                  <a:srgbClr val="A9BBD0"/>
                </a:solidFill>
                <a:latin typeface="Calibri"/>
              </a:rPr>
              <a:t>real (CPU)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7830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23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1938528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00C9B1"/>
                </a:solidFill>
                <a:latin typeface="Trebuchet MS"/>
              </a:rPr>
              <a:t>512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788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dimensões do</a:t>
            </a:r>
            <a:br/>
            <a:r>
              <a:rPr sz="1200" b="0" i="0">
                <a:solidFill>
                  <a:srgbClr val="A9BBD0"/>
                </a:solidFill>
                <a:latin typeface="Calibri"/>
              </a:rPr>
              <a:t>embedding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6207" y="17830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233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7647" y="1938528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00C9B1"/>
                </a:solidFill>
                <a:latin typeface="Trebuchet MS"/>
              </a:rPr>
              <a:t>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7647" y="2788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anti-spoofing</a:t>
            </a:r>
            <a:br/>
            <a:r>
              <a:rPr sz="1200" b="0" i="0">
                <a:solidFill>
                  <a:srgbClr val="A9BBD0"/>
                </a:solidFill>
                <a:latin typeface="Calibri"/>
              </a:rPr>
              <a:t>por piscada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13048"/>
            <a:ext cx="48920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0C9B1"/>
                </a:solidFill>
                <a:latin typeface="Trebuchet MS"/>
              </a:rPr>
              <a:t>📐  Métricas-alvo (entrega final)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Acurácia de verificação (mesmo/diferente).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FAR (falsa aceitação) e FRR (falsa rejeição) baixos.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Limiar de cosseno calibrado (atual: 0.40).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Taxa de detecção de piscada (liveness).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FPS estável em tempo real.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11880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13048"/>
            <a:ext cx="48920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0C06A"/>
                </a:solidFill>
                <a:latin typeface="Trebuchet MS"/>
              </a:rPr>
              <a:t>✅  Resultado esperado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Reconhecer corretamente os cadastrados e rejeitar desconhecidos.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Bloquear ataques de foto via prova de vida.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Rodar fluido em CPU comum, sem GPU.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A9BBD0"/>
                </a:solidFill>
                <a:latin typeface="Calibri"/>
              </a:rPr>
              <a:t>Interface clara de bloqueio → liberação.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Insper AI · FaceID 2026.1 · Entrega Intermediária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9BBD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640080"/>
            <a:ext cx="3108960" cy="3108960"/>
          </a:xfrm>
          <a:prstGeom prst="ellipse">
            <a:avLst/>
          </a:prstGeom>
          <a:noFill/>
          <a:ln w="25400">
            <a:solidFill>
              <a:srgbClr val="2339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1097280"/>
            <a:ext cx="2194560" cy="2194560"/>
          </a:xfrm>
          <a:prstGeom prst="ellipse">
            <a:avLst/>
          </a:prstGeom>
          <a:noFill/>
          <a:ln w="2540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554480"/>
            <a:ext cx="1280160" cy="1280160"/>
          </a:xfrm>
          <a:prstGeom prst="ellipse">
            <a:avLst/>
          </a:prstGeom>
          <a:noFill/>
          <a:ln w="31750">
            <a:solidFill>
              <a:srgbClr val="00C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C9B1"/>
                </a:solidFill>
                <a:latin typeface="Trebuchet MS"/>
              </a:rPr>
              <a:t>DA INTERMEDIÁRIA PARA 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2F6FC"/>
                </a:solidFill>
                <a:latin typeface="Trebuchet MS"/>
              </a:rPr>
              <a:t>Próximos Passos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322576"/>
            <a:ext cx="256032" cy="256032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0428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B2E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860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A9BBD0"/>
                </a:solidFill>
                <a:latin typeface="Calibri"/>
              </a:rPr>
              <a:t>Ampliar a base: mais pessoas e mais fotos por pessoa.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89504"/>
            <a:ext cx="256032" cy="256032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7121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B2E"/>
                </a:solidFill>
                <a:latin typeface="Trebuchet M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529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A9BBD0"/>
                </a:solidFill>
                <a:latin typeface="Calibri"/>
              </a:rPr>
              <a:t>Calibrar o limiar com métricas reais (FAR/FRR).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456432"/>
            <a:ext cx="256032" cy="256032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3814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B2E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19856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A9BBD0"/>
                </a:solidFill>
                <a:latin typeface="Calibri"/>
              </a:rPr>
              <a:t>Robustez a iluminação, óculos e variação de pose.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23360"/>
            <a:ext cx="256032" cy="256032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0507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B2E"/>
                </a:solidFill>
                <a:latin typeface="Trebuchet M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86784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A9BBD0"/>
                </a:solidFill>
                <a:latin typeface="Calibri"/>
              </a:rPr>
              <a:t>Avaliar anti-spoofing mais forte (CNN de textura/profundidade).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590288"/>
            <a:ext cx="256032" cy="256032"/>
          </a:xfrm>
          <a:prstGeom prst="ellipse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7200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B2E"/>
                </a:solidFill>
                <a:latin typeface="Trebuchet M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55371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A9BBD0"/>
                </a:solidFill>
                <a:latin typeface="Calibri"/>
              </a:rPr>
              <a:t>Escrever o documento estilo paper científico.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064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9436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F6FC"/>
                </a:solidFill>
                <a:latin typeface="Trebuchet MS"/>
              </a:rPr>
              <a:t>Equipe:  Hector Mathias · Lara · Anderson      |      Insper AI 2026.1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